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Play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gGNY4fvPsBu3yQJlEqxylPiVFn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Play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0" name="Google Shape;10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2" name="Google Shape;16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bebe73faf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cbebe73fa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شريحة عنوان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rt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3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3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عنوان ومحتوى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4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حتويين" type="twoObj">
  <p:cSld name="TWO_OBJECT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صورة مع تسمية توضيحية" type="picTx">
  <p:cSld name="PICTURE_WITH_CAPTIO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34" name="Google Shape;34;p16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عنوان المقطع" type="secHead">
  <p:cSld name="SECTION_HEADER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40" name="Google Shape;40;p17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قارنة" type="twoTxTwoObj">
  <p:cSld name="TWO_OBJECTS_WITH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عنوان فقط" type="titleOnly">
  <p:cSld name="TITLE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9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فارغ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0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محتوى ذو تسمية توضيحية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2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عنوان ونص عمودي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عنوان ونص عموديان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1" algn="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576023"/>
            <a:ext cx="9144000" cy="165435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Play"/>
              <a:buNone/>
            </a:pPr>
            <a:r>
              <a:rPr b="1" lang="en-US" sz="4000"/>
              <a:t>Image Blur vs. Sharp Classification</a:t>
            </a:r>
            <a:br>
              <a:rPr b="1" lang="en-US" sz="4000"/>
            </a:br>
            <a:r>
              <a:rPr b="1" lang="en-US" sz="4000"/>
              <a:t> Using Traditional Neural Networks</a:t>
            </a:r>
            <a:endParaRPr sz="4000"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1524000" y="2753774"/>
            <a:ext cx="9144000" cy="25040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Name: Asala Abu Grara &amp; Sara Abu Mandil</a:t>
            </a:r>
            <a:endParaRPr/>
          </a:p>
          <a:p>
            <a:pPr indent="0" lvl="0" marL="0" rt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Major: Data Science &amp; Artificial Intelligence</a:t>
            </a:r>
            <a:endParaRPr/>
          </a:p>
          <a:p>
            <a:pPr indent="0" lvl="0" marL="0" rt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University: University College of Applied Sciences</a:t>
            </a:r>
            <a:endParaRPr/>
          </a:p>
          <a:p>
            <a:pPr indent="0" lvl="0" marL="0" rtl="1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 Course: Digital Image Processing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type="title"/>
          </p:nvPr>
        </p:nvSpPr>
        <p:spPr>
          <a:xfrm>
            <a:off x="838200" y="365125"/>
            <a:ext cx="10515600" cy="103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Problem Statement</a:t>
            </a:r>
            <a:endParaRPr b="1"/>
          </a:p>
        </p:txBody>
      </p:sp>
      <p:sp>
        <p:nvSpPr>
          <p:cNvPr id="91" name="Google Shape;91;p2"/>
          <p:cNvSpPr txBox="1"/>
          <p:nvPr>
            <p:ph idx="1" type="body"/>
          </p:nvPr>
        </p:nvSpPr>
        <p:spPr>
          <a:xfrm>
            <a:off x="838200" y="1408682"/>
            <a:ext cx="10515600" cy="507020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lnSpcReduction="10000"/>
          </a:bodyPr>
          <a:lstStyle/>
          <a:p>
            <a:pPr indent="-228600" lvl="0" marL="228600" rtl="1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Problem:</a:t>
            </a:r>
            <a:br>
              <a:rPr b="1" lang="en-US"/>
            </a:br>
            <a:r>
              <a:rPr b="1" lang="en-US"/>
              <a:t> Binary Image Classification</a:t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Sharp Images</a:t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Blurred Images</a:t>
            </a:r>
            <a:endParaRPr/>
          </a:p>
          <a:p>
            <a:pPr indent="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Motivation:</a:t>
            </a:r>
            <a:endParaRPr/>
          </a:p>
          <a:p>
            <a:pPr indent="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rPr lang="en-US" sz="2600"/>
              <a:t>Blur reduces edge clarity and fine  details</a:t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CNN models are computationally expensive</a:t>
            </a:r>
            <a:endParaRPr/>
          </a:p>
          <a:p>
            <a:pPr indent="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Our Approach:</a:t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Handcrafted spatial features</a:t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Multi-Layer Perceptron (MLP)</a:t>
            </a:r>
            <a:endParaRPr/>
          </a:p>
          <a:p>
            <a:pPr indent="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 txBox="1"/>
          <p:nvPr>
            <p:ph type="title"/>
          </p:nvPr>
        </p:nvSpPr>
        <p:spPr>
          <a:xfrm>
            <a:off x="838200" y="365125"/>
            <a:ext cx="10515600" cy="98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Neural Networks (Theoretical Part)</a:t>
            </a:r>
            <a:endParaRPr b="1"/>
          </a:p>
        </p:txBody>
      </p:sp>
      <p:sp>
        <p:nvSpPr>
          <p:cNvPr id="97" name="Google Shape;97;p3"/>
          <p:cNvSpPr txBox="1"/>
          <p:nvPr>
            <p:ph idx="1" type="body"/>
          </p:nvPr>
        </p:nvSpPr>
        <p:spPr>
          <a:xfrm>
            <a:off x="838200" y="1365551"/>
            <a:ext cx="10515600" cy="48114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What is a Neural Network</a:t>
            </a:r>
            <a:r>
              <a:rPr lang="en-US"/>
              <a:t>؟</a:t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Computational model inspired by biological neurons</a:t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Consists of interconnected layers</a:t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Learns patterns from data through weight updates</a:t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/>
              <a:t>Main Components</a:t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Input Layer</a:t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Hidden Layer</a:t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/>
              <a:t>Output Layer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 txBox="1"/>
          <p:nvPr>
            <p:ph type="title"/>
          </p:nvPr>
        </p:nvSpPr>
        <p:spPr>
          <a:xfrm>
            <a:off x="838200" y="365125"/>
            <a:ext cx="10515600" cy="98050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Model Architecture (NN Design)</a:t>
            </a:r>
            <a:endParaRPr b="1"/>
          </a:p>
        </p:txBody>
      </p:sp>
      <p:sp>
        <p:nvSpPr>
          <p:cNvPr id="103" name="Google Shape;103;p4"/>
          <p:cNvSpPr txBox="1"/>
          <p:nvPr>
            <p:ph idx="1" type="body"/>
          </p:nvPr>
        </p:nvSpPr>
        <p:spPr>
          <a:xfrm>
            <a:off x="838200" y="1178725"/>
            <a:ext cx="10515600" cy="56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Multi-Layer Perceptron (MLP)</a:t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Input: Feature Vector</a:t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Hidden Layer: 50 neurons  (ReLU)</a:t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Output Layer: 1 neuron (Sigmoid)</a:t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Loss Function</a:t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Binary Cross-Entropy</a:t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Optimizer</a:t>
            </a:r>
            <a:endParaRPr b="1"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Adam</a:t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Final Model uses 3 features (after feature selection)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StandardScaler applied before MLP</a:t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 txBox="1"/>
          <p:nvPr>
            <p:ph type="title"/>
          </p:nvPr>
        </p:nvSpPr>
        <p:spPr>
          <a:xfrm>
            <a:off x="838200" y="365125"/>
            <a:ext cx="10515600" cy="92299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Dataset</a:t>
            </a:r>
            <a:endParaRPr b="1"/>
          </a:p>
        </p:txBody>
      </p:sp>
      <p:sp>
        <p:nvSpPr>
          <p:cNvPr id="109" name="Google Shape;109;p5"/>
          <p:cNvSpPr txBox="1"/>
          <p:nvPr>
            <p:ph idx="1" type="body"/>
          </p:nvPr>
        </p:nvSpPr>
        <p:spPr>
          <a:xfrm>
            <a:off x="838200" y="1089425"/>
            <a:ext cx="10515600" cy="53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Kaggle Blur Dataset</a:t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Total: 1050 images </a:t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350 Sharp</a:t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n-US"/>
              <a:t>350 Motion Blur</a:t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350 Defocus Blur</a:t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Binary Labels</a:t>
            </a:r>
            <a:r>
              <a:rPr lang="en-US"/>
              <a:t>:</a:t>
            </a:r>
            <a:br>
              <a:rPr lang="en-US"/>
            </a:br>
            <a:r>
              <a:rPr lang="en-US"/>
              <a:t> Sharp → 0</a:t>
            </a:r>
            <a:br>
              <a:rPr lang="en-US"/>
            </a:br>
            <a:r>
              <a:rPr lang="en-US"/>
              <a:t> Blurred → 1</a:t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Split</a:t>
            </a:r>
            <a:r>
              <a:rPr lang="en-US"/>
              <a:t>:</a:t>
            </a:r>
            <a:br>
              <a:rPr lang="en-US"/>
            </a:br>
            <a:r>
              <a:rPr lang="en-US"/>
              <a:t> 80% Training</a:t>
            </a:r>
            <a:br>
              <a:rPr lang="en-US"/>
            </a:br>
            <a:r>
              <a:rPr lang="en-US"/>
              <a:t> 20% Testing</a:t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6"/>
          <p:cNvPicPr preferRelativeResize="0"/>
          <p:nvPr/>
        </p:nvPicPr>
        <p:blipFill rotWithShape="1">
          <a:blip r:embed="rId3">
            <a:alphaModFix/>
          </a:blip>
          <a:srcRect b="9982" l="0" r="9083" t="13345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8E8E8">
                  <a:alpha val="67843"/>
                </a:srgbClr>
              </a:gs>
              <a:gs pos="10000">
                <a:srgbClr val="E8E8E8">
                  <a:alpha val="67843"/>
                </a:srgbClr>
              </a:gs>
              <a:gs pos="85000">
                <a:srgbClr val="E8E8E8">
                  <a:alpha val="96862"/>
                </a:srgbClr>
              </a:gs>
              <a:gs pos="100000">
                <a:srgbClr val="E8E8E8">
                  <a:alpha val="96862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Feature Extraction</a:t>
            </a:r>
            <a:endParaRPr b="1"/>
          </a:p>
        </p:txBody>
      </p:sp>
      <p:grpSp>
        <p:nvGrpSpPr>
          <p:cNvPr id="117" name="Google Shape;117;p6"/>
          <p:cNvGrpSpPr/>
          <p:nvPr/>
        </p:nvGrpSpPr>
        <p:grpSpPr>
          <a:xfrm>
            <a:off x="4203205" y="1825996"/>
            <a:ext cx="3785616" cy="4350594"/>
            <a:chOff x="3364992" y="371"/>
            <a:chExt cx="3785616" cy="4350594"/>
          </a:xfrm>
        </p:grpSpPr>
        <p:sp>
          <p:nvSpPr>
            <p:cNvPr id="118" name="Google Shape;118;p6"/>
            <p:cNvSpPr/>
            <p:nvPr/>
          </p:nvSpPr>
          <p:spPr>
            <a:xfrm>
              <a:off x="3364992" y="371"/>
              <a:ext cx="3785616" cy="595971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EC8154"/>
                </a:gs>
                <a:gs pos="50000">
                  <a:srgbClr val="F16E27"/>
                </a:gs>
                <a:gs pos="100000">
                  <a:srgbClr val="DF5D18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6"/>
            <p:cNvSpPr txBox="1"/>
            <p:nvPr/>
          </p:nvSpPr>
          <p:spPr>
            <a:xfrm>
              <a:off x="3394085" y="29464"/>
              <a:ext cx="3727430" cy="53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60950" spcFirstLastPara="1" rIns="60950" wrap="square" tIns="30475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Extracted Spatial Features</a:t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6"/>
            <p:cNvSpPr/>
            <p:nvPr/>
          </p:nvSpPr>
          <p:spPr>
            <a:xfrm>
              <a:off x="3364992" y="626142"/>
              <a:ext cx="3785616" cy="595971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E7A64B"/>
                </a:gs>
                <a:gs pos="50000">
                  <a:srgbClr val="EB9E12"/>
                </a:gs>
                <a:gs pos="100000">
                  <a:srgbClr val="D88E07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6"/>
            <p:cNvSpPr txBox="1"/>
            <p:nvPr/>
          </p:nvSpPr>
          <p:spPr>
            <a:xfrm>
              <a:off x="3394085" y="655235"/>
              <a:ext cx="3727430" cy="53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60950" spcFirstLastPara="1" rIns="60950" wrap="square" tIns="3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Sobel X Variance (sobel_x_var)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6"/>
            <p:cNvSpPr/>
            <p:nvPr/>
          </p:nvSpPr>
          <p:spPr>
            <a:xfrm>
              <a:off x="3364992" y="1251912"/>
              <a:ext cx="3785616" cy="595971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D1C74A"/>
                </a:gs>
                <a:gs pos="50000">
                  <a:srgbClr val="D0C514"/>
                </a:gs>
                <a:gs pos="100000">
                  <a:srgbClr val="BFB40A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6"/>
            <p:cNvSpPr txBox="1"/>
            <p:nvPr/>
          </p:nvSpPr>
          <p:spPr>
            <a:xfrm>
              <a:off x="3394085" y="1281005"/>
              <a:ext cx="3727430" cy="53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60950" spcFirstLastPara="1" rIns="60950" wrap="square" tIns="3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Tenengrad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6"/>
            <p:cNvSpPr/>
            <p:nvPr/>
          </p:nvSpPr>
          <p:spPr>
            <a:xfrm>
              <a:off x="3364992" y="1877683"/>
              <a:ext cx="3785616" cy="595971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99BA4A"/>
                </a:gs>
                <a:gs pos="50000">
                  <a:srgbClr val="8FB614"/>
                </a:gs>
                <a:gs pos="100000">
                  <a:srgbClr val="81A70B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6"/>
            <p:cNvSpPr txBox="1"/>
            <p:nvPr/>
          </p:nvSpPr>
          <p:spPr>
            <a:xfrm>
              <a:off x="3394060" y="1921264"/>
              <a:ext cx="3727500" cy="537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60950" spcFirstLastPara="1" rIns="60950" wrap="square" tIns="3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Sobel Magnitude Mean (sobel_mag_mean)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6"/>
            <p:cNvSpPr/>
            <p:nvPr/>
          </p:nvSpPr>
          <p:spPr>
            <a:xfrm>
              <a:off x="3364992" y="2503453"/>
              <a:ext cx="3785616" cy="595971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6AA34A"/>
                </a:gs>
                <a:gs pos="50000">
                  <a:srgbClr val="549D15"/>
                </a:gs>
                <a:gs pos="100000">
                  <a:srgbClr val="4A8F0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6"/>
            <p:cNvSpPr txBox="1"/>
            <p:nvPr/>
          </p:nvSpPr>
          <p:spPr>
            <a:xfrm>
              <a:off x="3394085" y="2532546"/>
              <a:ext cx="3727430" cy="53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60950" spcFirstLastPara="1" rIns="60950" wrap="square" tIns="3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Laplacian Variance (removed in final model)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6"/>
            <p:cNvSpPr/>
            <p:nvPr/>
          </p:nvSpPr>
          <p:spPr>
            <a:xfrm>
              <a:off x="3364992" y="3129223"/>
              <a:ext cx="3785616" cy="595971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508E4A"/>
                </a:gs>
                <a:gs pos="50000">
                  <a:srgbClr val="288514"/>
                </a:gs>
                <a:gs pos="100000">
                  <a:srgbClr val="20790D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6"/>
            <p:cNvSpPr txBox="1"/>
            <p:nvPr/>
          </p:nvSpPr>
          <p:spPr>
            <a:xfrm>
              <a:off x="3394085" y="3158316"/>
              <a:ext cx="3727430" cy="53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60950" spcFirstLastPara="1" rIns="60950" wrap="square" tIns="30475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1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Why?</a:t>
              </a:r>
              <a:endParaRPr b="0" i="0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6"/>
            <p:cNvSpPr/>
            <p:nvPr/>
          </p:nvSpPr>
          <p:spPr>
            <a:xfrm>
              <a:off x="3364992" y="3754994"/>
              <a:ext cx="3785616" cy="595971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497B4D"/>
                </a:gs>
                <a:gs pos="50000">
                  <a:srgbClr val="126D20"/>
                </a:gs>
                <a:gs pos="100000">
                  <a:srgbClr val="0C6319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6"/>
            <p:cNvSpPr txBox="1"/>
            <p:nvPr/>
          </p:nvSpPr>
          <p:spPr>
            <a:xfrm>
              <a:off x="3394085" y="3784087"/>
              <a:ext cx="3727430" cy="5377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60950" spcFirstLastPara="1" rIns="60950" wrap="square" tIns="30475">
              <a:noAutofit/>
            </a:bodyPr>
            <a:lstStyle/>
            <a:p>
              <a:pPr indent="0" lvl="0" marL="0" marR="0" rtl="1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Blur reduces edge strength and gradient energy.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/>
          <p:nvPr/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7"/>
          <p:cNvSpPr/>
          <p:nvPr/>
        </p:nvSpPr>
        <p:spPr>
          <a:xfrm>
            <a:off x="1" y="0"/>
            <a:ext cx="4167271" cy="6858000"/>
          </a:xfrm>
          <a:custGeom>
            <a:rect b="b" l="l" r="r" t="t"/>
            <a:pathLst>
              <a:path extrusionOk="0" h="6858000" w="4167271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 txBox="1"/>
          <p:nvPr>
            <p:ph type="title"/>
          </p:nvPr>
        </p:nvSpPr>
        <p:spPr>
          <a:xfrm>
            <a:off x="686834" y="1153572"/>
            <a:ext cx="3200400" cy="44611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Play"/>
              <a:buNone/>
            </a:pPr>
            <a:r>
              <a:rPr b="1" lang="en-US">
                <a:solidFill>
                  <a:srgbClr val="FFFFFF"/>
                </a:solidFill>
              </a:rPr>
              <a:t>Training Method</a:t>
            </a:r>
            <a:endParaRPr b="1">
              <a:solidFill>
                <a:srgbClr val="FFFFFF"/>
              </a:solidFill>
            </a:endParaRPr>
          </a:p>
        </p:txBody>
      </p:sp>
      <p:sp>
        <p:nvSpPr>
          <p:cNvPr id="139" name="Google Shape;139;p7"/>
          <p:cNvSpPr/>
          <p:nvPr/>
        </p:nvSpPr>
        <p:spPr>
          <a:xfrm flipH="1" rot="10800000">
            <a:off x="7550402" y="2455479"/>
            <a:ext cx="4083433" cy="4083433"/>
          </a:xfrm>
          <a:prstGeom prst="arc">
            <a:avLst>
              <a:gd fmla="val 16200000" name="adj1"/>
              <a:gd fmla="val 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7"/>
          <p:cNvSpPr txBox="1"/>
          <p:nvPr>
            <p:ph idx="1" type="body"/>
          </p:nvPr>
        </p:nvSpPr>
        <p:spPr>
          <a:xfrm>
            <a:off x="4447308" y="591344"/>
            <a:ext cx="6906491" cy="55856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Training Details</a:t>
            </a:r>
            <a:endParaRPr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Hidden neurons tested: 10, 20, 50, 100</a:t>
            </a:r>
            <a:endParaRPr sz="2400"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Best model: 50 neurons</a:t>
            </a:r>
            <a:endParaRPr sz="2400"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Max iterations: 2000</a:t>
            </a:r>
            <a:endParaRPr sz="2400"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/>
              <a:t>Optimizer: Adam</a:t>
            </a:r>
            <a:endParaRPr sz="2400"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Cross-validation applied on full dataset</a:t>
            </a:r>
            <a:endParaRPr sz="2400"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Evaluation Metrics</a:t>
            </a:r>
            <a:endParaRPr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Accuracy</a:t>
            </a:r>
            <a:endParaRPr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Precision</a:t>
            </a:r>
            <a:endParaRPr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Recall</a:t>
            </a:r>
            <a:endParaRPr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F1-score</a:t>
            </a:r>
            <a:endParaRPr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AUC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/>
          <p:nvPr/>
        </p:nvSpPr>
        <p:spPr>
          <a:xfrm>
            <a:off x="1500" y="107150"/>
            <a:ext cx="12189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8"/>
          <p:cNvSpPr txBox="1"/>
          <p:nvPr>
            <p:ph type="title"/>
          </p:nvPr>
        </p:nvSpPr>
        <p:spPr>
          <a:xfrm>
            <a:off x="640080" y="325369"/>
            <a:ext cx="4368602" cy="195684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b="1" lang="en-US" sz="5400"/>
              <a:t>Experiments</a:t>
            </a:r>
            <a:endParaRPr b="1" sz="5400"/>
          </a:p>
        </p:txBody>
      </p:sp>
      <p:sp>
        <p:nvSpPr>
          <p:cNvPr id="147" name="Google Shape;147;p8"/>
          <p:cNvSpPr/>
          <p:nvPr/>
        </p:nvSpPr>
        <p:spPr>
          <a:xfrm>
            <a:off x="640080" y="2586994"/>
            <a:ext cx="3474720" cy="18288"/>
          </a:xfrm>
          <a:custGeom>
            <a:rect b="b" l="l" r="r" t="t"/>
            <a:pathLst>
              <a:path extrusionOk="0" fill="none" h="18288" w="347472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extrusionOk="0" h="18288" w="347472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44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8"/>
          <p:cNvSpPr txBox="1"/>
          <p:nvPr>
            <p:ph idx="1" type="body"/>
          </p:nvPr>
        </p:nvSpPr>
        <p:spPr>
          <a:xfrm>
            <a:off x="640075" y="2605275"/>
            <a:ext cx="4243500" cy="412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1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</a:pPr>
            <a:r>
              <a:rPr b="1" lang="en-US" sz="1950"/>
              <a:t>Experiments Conducted</a:t>
            </a:r>
            <a:endParaRPr b="1" sz="1950"/>
          </a:p>
          <a:p>
            <a:pPr indent="-228600" lvl="0" marL="228600" rtl="1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</a:pPr>
            <a:r>
              <a:rPr lang="en-US" sz="1950"/>
              <a:t>Architecture comparison</a:t>
            </a:r>
            <a:endParaRPr sz="1950"/>
          </a:p>
          <a:p>
            <a:pPr indent="-228600" lvl="0" marL="228600" rtl="1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</a:pPr>
            <a:r>
              <a:rPr lang="en-US" sz="1950"/>
              <a:t>Feature importance analysis</a:t>
            </a:r>
            <a:endParaRPr sz="1950"/>
          </a:p>
          <a:p>
            <a:pPr indent="-228600" lvl="0" marL="228600" rtl="1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</a:pPr>
            <a:r>
              <a:rPr lang="en-US" sz="1950"/>
              <a:t>Feature ablation study</a:t>
            </a:r>
            <a:endParaRPr sz="1950"/>
          </a:p>
          <a:p>
            <a:pPr indent="-228600" lvl="0" marL="228600" rtl="1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</a:pPr>
            <a:r>
              <a:t/>
            </a:r>
            <a:endParaRPr sz="1950"/>
          </a:p>
          <a:p>
            <a:pPr indent="-228600" lvl="0" marL="228600" rtl="1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</a:pPr>
            <a:r>
              <a:rPr b="1" lang="en-US" sz="1950"/>
              <a:t>Key Finding</a:t>
            </a:r>
            <a:endParaRPr b="1" sz="1950"/>
          </a:p>
          <a:p>
            <a:pPr indent="-228600" lvl="0" marL="228600" rtl="1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1950"/>
              <a:t>Sobel X Variance → Most important</a:t>
            </a:r>
            <a:endParaRPr sz="1950"/>
          </a:p>
          <a:p>
            <a:pPr indent="-228600" lvl="0" marL="228600" rtl="1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n-US" sz="1950"/>
              <a:t>Tenengrad → Second most important</a:t>
            </a:r>
            <a:endParaRPr sz="1950"/>
          </a:p>
          <a:p>
            <a:pPr indent="-228600" lvl="0" marL="228600" rtl="1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</a:pPr>
            <a:r>
              <a:rPr lang="en-US" sz="1950"/>
              <a:t>Laplacian → Least important (removed)</a:t>
            </a:r>
            <a:endParaRPr sz="1950"/>
          </a:p>
          <a:p>
            <a:pPr indent="-101600" lvl="0" marL="228600" rtl="1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Font typeface="Arial"/>
              <a:buNone/>
            </a:pPr>
            <a:r>
              <a:t/>
            </a:r>
            <a:endParaRPr sz="1950"/>
          </a:p>
          <a:p>
            <a:pPr indent="0" lvl="0" marL="0" rtl="1" algn="r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50"/>
              <a:buNone/>
            </a:pPr>
            <a:r>
              <a:t/>
            </a:r>
            <a:endParaRPr sz="1850"/>
          </a:p>
        </p:txBody>
      </p:sp>
      <p:pic>
        <p:nvPicPr>
          <p:cNvPr id="149" name="Google Shape;149;p8" title="3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7075" y="1143000"/>
            <a:ext cx="6697276" cy="5411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9"/>
          <p:cNvSpPr txBox="1"/>
          <p:nvPr>
            <p:ph type="title"/>
          </p:nvPr>
        </p:nvSpPr>
        <p:spPr>
          <a:xfrm>
            <a:off x="640080" y="329184"/>
            <a:ext cx="6894576" cy="17830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Play"/>
              <a:buNone/>
            </a:pPr>
            <a:r>
              <a:rPr b="1" lang="en-US" sz="5400"/>
              <a:t>Results</a:t>
            </a:r>
            <a:endParaRPr b="1" sz="5400"/>
          </a:p>
        </p:txBody>
      </p:sp>
      <p:sp>
        <p:nvSpPr>
          <p:cNvPr id="156" name="Google Shape;156;p9"/>
          <p:cNvSpPr/>
          <p:nvPr/>
        </p:nvSpPr>
        <p:spPr>
          <a:xfrm>
            <a:off x="758952" y="2395728"/>
            <a:ext cx="4243589" cy="18288"/>
          </a:xfrm>
          <a:custGeom>
            <a:rect b="b" l="l" r="r" t="t"/>
            <a:pathLst>
              <a:path extrusionOk="0" fill="none" h="18288" w="4243589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extrusionOk="0" h="18288" w="4243589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9"/>
          <p:cNvSpPr txBox="1"/>
          <p:nvPr>
            <p:ph idx="1" type="body"/>
          </p:nvPr>
        </p:nvSpPr>
        <p:spPr>
          <a:xfrm>
            <a:off x="640080" y="2706624"/>
            <a:ext cx="6894576" cy="3483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en-US" sz="1900"/>
              <a:t>Final Performance</a:t>
            </a:r>
            <a:endParaRPr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1900"/>
              <a:t>Test Accuracy: 90.95%</a:t>
            </a:r>
            <a:endParaRPr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1900"/>
              <a:t>Cross-Validation Accuracy: 92.19%</a:t>
            </a:r>
            <a:endParaRPr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1900"/>
              <a:t>AUC ≈ 0.95</a:t>
            </a:r>
            <a:endParaRPr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sz="1900"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b="1" lang="en-US" sz="1900"/>
              <a:t>Confusion Matrix</a:t>
            </a:r>
            <a:endParaRPr sz="1900"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/>
              <a:t>True Negatives: 57</a:t>
            </a:r>
            <a:endParaRPr sz="1900"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/>
              <a:t>True Positives: 134</a:t>
            </a:r>
            <a:endParaRPr sz="1900"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900"/>
              <a:t>False Positives: 13</a:t>
            </a:r>
            <a:endParaRPr sz="1900"/>
          </a:p>
          <a:p>
            <a:pPr indent="0" lvl="0" marL="0" rtl="1" algn="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rPr lang="en-US" sz="1900"/>
              <a:t>False Negatives: 6</a:t>
            </a:r>
            <a:endParaRPr sz="1900"/>
          </a:p>
        </p:txBody>
      </p:sp>
      <p:pic>
        <p:nvPicPr>
          <p:cNvPr id="158" name="Google Shape;158;p9" title="1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58125" y="856475"/>
            <a:ext cx="4125500" cy="29475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pic>
        <p:nvPicPr>
          <p:cNvPr id="159" name="Google Shape;159;p9" title="2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22250" y="3911200"/>
            <a:ext cx="3447076" cy="2589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Discussion</a:t>
            </a:r>
            <a:endParaRPr b="1"/>
          </a:p>
        </p:txBody>
      </p:sp>
      <p:sp>
        <p:nvSpPr>
          <p:cNvPr id="165" name="Google Shape;165;p10"/>
          <p:cNvSpPr txBox="1"/>
          <p:nvPr>
            <p:ph idx="1" type="body"/>
          </p:nvPr>
        </p:nvSpPr>
        <p:spPr>
          <a:xfrm>
            <a:off x="838200" y="1566824"/>
            <a:ext cx="10515600" cy="493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Observations</a:t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/>
          </a:p>
          <a:p>
            <a:pPr indent="0" lvl="0" marL="4572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69498"/>
              <a:buNone/>
            </a:pPr>
            <a:r>
              <a:rPr lang="en-US"/>
              <a:t>Strong  performance using traditional NN</a:t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Stable cross-validation results</a:t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Efficient compared to CNNs</a:t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Low computational cost</a:t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Feature ablation confirmed that removing Laplacian did not reduce performance.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No signs of overfitting (train/test performance consistent)</a:t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bebe73faf_0_1"/>
          <p:cNvSpPr txBox="1"/>
          <p:nvPr>
            <p:ph type="title"/>
          </p:nvPr>
        </p:nvSpPr>
        <p:spPr>
          <a:xfrm>
            <a:off x="839800" y="365125"/>
            <a:ext cx="10515600" cy="8673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Model Deployment &amp; Web Application</a:t>
            </a:r>
            <a:endParaRPr b="1"/>
          </a:p>
        </p:txBody>
      </p:sp>
      <p:sp>
        <p:nvSpPr>
          <p:cNvPr id="171" name="Google Shape;171;g3cbebe73faf_0_1"/>
          <p:cNvSpPr txBox="1"/>
          <p:nvPr>
            <p:ph idx="1" type="body"/>
          </p:nvPr>
        </p:nvSpPr>
        <p:spPr>
          <a:xfrm>
            <a:off x="839800" y="1232300"/>
            <a:ext cx="5157900" cy="3750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/>
              <a:t>Deployment</a:t>
            </a:r>
            <a:endParaRPr sz="2600"/>
          </a:p>
        </p:txBody>
      </p:sp>
      <p:sp>
        <p:nvSpPr>
          <p:cNvPr id="172" name="Google Shape;172;g3cbebe73faf_0_1"/>
          <p:cNvSpPr txBox="1"/>
          <p:nvPr>
            <p:ph idx="2" type="body"/>
          </p:nvPr>
        </p:nvSpPr>
        <p:spPr>
          <a:xfrm>
            <a:off x="839800" y="2018075"/>
            <a:ext cx="5157900" cy="4064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/>
              <a:t>Final trained MLP model saved using </a:t>
            </a:r>
            <a:r>
              <a:rPr b="1" lang="en-US" sz="2100"/>
              <a:t>Joblib</a:t>
            </a:r>
            <a:br>
              <a:rPr lang="en-US" sz="2100"/>
            </a:b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/>
              <a:t>Feature list saved separately to ensure consistent input order</a:t>
            </a:r>
            <a:br>
              <a:rPr lang="en-US" sz="2100"/>
            </a:b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100"/>
              <a:t>Preprocessing pipeline reused during inference</a:t>
            </a:r>
            <a:endParaRPr sz="21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800"/>
          </a:p>
        </p:txBody>
      </p:sp>
      <p:sp>
        <p:nvSpPr>
          <p:cNvPr id="173" name="Google Shape;173;g3cbebe73faf_0_1"/>
          <p:cNvSpPr txBox="1"/>
          <p:nvPr>
            <p:ph idx="3" type="body"/>
          </p:nvPr>
        </p:nvSpPr>
        <p:spPr>
          <a:xfrm>
            <a:off x="6172200" y="1232301"/>
            <a:ext cx="5183100" cy="4644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600"/>
              <a:t>Web Interface</a:t>
            </a:r>
            <a:endParaRPr sz="2600"/>
          </a:p>
        </p:txBody>
      </p:sp>
      <p:sp>
        <p:nvSpPr>
          <p:cNvPr id="174" name="Google Shape;174;g3cbebe73faf_0_1"/>
          <p:cNvSpPr txBox="1"/>
          <p:nvPr>
            <p:ph idx="4" type="body"/>
          </p:nvPr>
        </p:nvSpPr>
        <p:spPr>
          <a:xfrm>
            <a:off x="6172200" y="1696700"/>
            <a:ext cx="5183100" cy="5000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sz="2000"/>
              <a:t>Users upload external images</a:t>
            </a:r>
            <a:br>
              <a:rPr lang="en-US" sz="2000"/>
            </a:b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sz="2000"/>
              <a:t>System extracts features automatically</a:t>
            </a:r>
            <a:br>
              <a:rPr lang="en-US" sz="2000"/>
            </a:b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rPr lang="en-US" sz="2000"/>
              <a:t>Real-time classification: </a:t>
            </a:r>
            <a:r>
              <a:rPr b="1" lang="en-US" sz="2000"/>
              <a:t>Sharp / Blurred</a:t>
            </a:r>
            <a:br>
              <a:rPr b="1" lang="en-US" sz="2000"/>
            </a:br>
            <a:endParaRPr b="1"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US" sz="2000"/>
              <a:t>Displays prediction with confidence score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182"/>
              <a:t>Outcome</a:t>
            </a:r>
            <a:endParaRPr b="1" sz="2182"/>
          </a:p>
          <a:p>
            <a:pPr indent="-34507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-US" sz="1982"/>
              <a:t>Model ready for real-world inference</a:t>
            </a:r>
            <a:br>
              <a:rPr lang="en-US" sz="1982"/>
            </a:br>
            <a:endParaRPr sz="1982"/>
          </a:p>
          <a:p>
            <a:pPr indent="-34507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US" sz="1982"/>
              <a:t>Demonstrates practical applicability beyond experimentation</a:t>
            </a:r>
            <a:endParaRPr sz="1982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982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"/>
          <p:cNvSpPr txBox="1"/>
          <p:nvPr>
            <p:ph type="title"/>
          </p:nvPr>
        </p:nvSpPr>
        <p:spPr>
          <a:xfrm>
            <a:off x="838200" y="365125"/>
            <a:ext cx="10515600" cy="86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/>
              <a:t>Conclusion &amp; Demo</a:t>
            </a:r>
            <a:endParaRPr b="1"/>
          </a:p>
        </p:txBody>
      </p:sp>
      <p:sp>
        <p:nvSpPr>
          <p:cNvPr id="180" name="Google Shape;180;p11"/>
          <p:cNvSpPr txBox="1"/>
          <p:nvPr>
            <p:ph idx="1" type="body"/>
          </p:nvPr>
        </p:nvSpPr>
        <p:spPr>
          <a:xfrm>
            <a:off x="838200" y="1236154"/>
            <a:ext cx="10515600" cy="494080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b="1" lang="en-US" sz="3200"/>
              <a:t>Conclusion</a:t>
            </a:r>
            <a:endParaRPr b="1" sz="3200"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Traditional MLP performs effectively</a:t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Handcrafted features are discriminative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Suitable for lightweight real-time applications where CNNs are impractical</a:t>
            </a:r>
            <a:endParaRPr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sz="3200"/>
          </a:p>
          <a:p>
            <a:pPr indent="-228600" lvl="0" marL="22860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/>
              <a:t>Now we will demonstrate the model on unseen images</a:t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1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نسق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2026-02-25T13:26:27Z</dcterms:created>
</cp:coreProperties>
</file>